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A1222"/>
        </a:solidFill>
        <a:effectLst/>
      </p:bgPr>
    </p:bg>
    <p:spTree>
      <p:nvGrpSpPr>
        <p:cNvPr id="1" name=""/>
        <p:cNvGrpSpPr/>
        <p:nvPr/>
      </p:nvGrpSpPr>
      <p:grpSpPr/>
      <p:sp>
        <p:nvSpPr>
          <p:cNvPr id="2" name="TextBox 1"/>
          <p:cNvSpPr txBox="1"/>
          <p:nvPr/>
        </p:nvSpPr>
        <p:spPr>
          <a:xfrm>
            <a:off x="731520" y="1463040"/>
            <a:ext cx="10698480" cy="2194560"/>
          </a:xfrm>
          <a:prstGeom prst="rect">
            <a:avLst/>
          </a:prstGeom>
          <a:noFill/>
        </p:spPr>
        <p:txBody>
          <a:bodyPr wrap="none">
            <a:spAutoFit/>
          </a:bodyPr>
          <a:lstStyle/>
          <a:p>
            <a:pPr>
              <a:defRPr sz="4200" b="1">
                <a:solidFill>
                  <a:srgbClr val="F5F7FA"/>
                </a:solidFill>
              </a:defRPr>
            </a:pPr>
            <a:r>
              <a:t>FastFPA</a:t>
            </a:r>
            <a:br/>
            <a:r>
              <a:t>Platform Guide</a:t>
            </a:r>
          </a:p>
          <a:p>
            <a:pPr>
              <a:defRPr sz="1800">
                <a:solidFill>
                  <a:srgbClr val="F97316"/>
                </a:solidFill>
              </a:defRPr>
            </a:pPr>
            <a:r>
              <a:t>2026-08-19  •  https://fpa.fastsme.com</a:t>
            </a:r>
          </a:p>
        </p:txBody>
      </p:sp>
      <p:sp>
        <p:nvSpPr>
          <p:cNvPr id="3" name="TextBox 2"/>
          <p:cNvSpPr txBox="1"/>
          <p:nvPr/>
        </p:nvSpPr>
        <p:spPr>
          <a:xfrm>
            <a:off x="731520" y="4206240"/>
            <a:ext cx="10241280" cy="1188720"/>
          </a:xfrm>
          <a:prstGeom prst="rect">
            <a:avLst/>
          </a:prstGeom>
          <a:noFill/>
        </p:spPr>
        <p:txBody>
          <a:bodyPr wrap="none">
            <a:spAutoFit/>
          </a:bodyPr>
          <a:lstStyle/>
          <a:p>
            <a:pPr>
              <a:defRPr sz="1600">
                <a:solidFill>
                  <a:srgbClr val="B1BCCC"/>
                </a:solidFill>
              </a:defRPr>
            </a:pPr>
            <a:r>
              <a:t>FastFPA is the open-source financial planning and analysis application in the FastSME suite. It combines driver-based budgets, rolling forecasts, scenarios, variance analysis, workflow, and linked P&amp;L, balance sheet, and cash flow.</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A1222"/>
        </a:solidFill>
        <a:effectLst/>
      </p:bgPr>
    </p:bg>
    <p:spTree>
      <p:nvGrpSpPr>
        <p:cNvPr id="1" name=""/>
        <p:cNvGrpSpPr/>
        <p:nvPr/>
      </p:nvGrpSpPr>
      <p:grpSpPr/>
      <p:sp>
        <p:nvSpPr>
          <p:cNvPr id="2" name="TextBox 1"/>
          <p:cNvSpPr txBox="1"/>
          <p:nvPr/>
        </p:nvSpPr>
        <p:spPr>
          <a:xfrm>
            <a:off x="548640" y="320040"/>
            <a:ext cx="11064240" cy="594360"/>
          </a:xfrm>
          <a:prstGeom prst="rect">
            <a:avLst/>
          </a:prstGeom>
          <a:noFill/>
        </p:spPr>
        <p:txBody>
          <a:bodyPr wrap="none">
            <a:spAutoFit/>
          </a:bodyPr>
          <a:lstStyle/>
          <a:p>
            <a:pPr>
              <a:defRPr sz="2700" b="1">
                <a:solidFill>
                  <a:srgbClr val="F5F7FA"/>
                </a:solidFill>
              </a:defRPr>
            </a:pPr>
            <a:r>
              <a:t>Plan forward with numbers everyone can trust.</a:t>
            </a:r>
          </a:p>
        </p:txBody>
      </p:sp>
      <p:pic>
        <p:nvPicPr>
          <p:cNvPr id="3" name="Picture 2" descr="01-plan-forward-with-numbers-everyone-can-trust.png"/>
          <p:cNvPicPr>
            <a:picLocks noChangeAspect="1"/>
          </p:cNvPicPr>
          <p:nvPr/>
        </p:nvPicPr>
        <p:blipFill>
          <a:blip r:embed="rId2"/>
          <a:stretch>
            <a:fillRect/>
          </a:stretch>
        </p:blipFill>
        <p:spPr>
          <a:xfrm>
            <a:off x="548640" y="1097280"/>
            <a:ext cx="7924799" cy="4953000"/>
          </a:xfrm>
          <a:prstGeom prst="rect">
            <a:avLst/>
          </a:prstGeom>
        </p:spPr>
      </p:pic>
      <p:sp>
        <p:nvSpPr>
          <p:cNvPr id="4" name="TextBox 3"/>
          <p:cNvSpPr txBox="1"/>
          <p:nvPr/>
        </p:nvSpPr>
        <p:spPr>
          <a:xfrm>
            <a:off x="9646920" y="1143000"/>
            <a:ext cx="1965960" cy="5120640"/>
          </a:xfrm>
          <a:prstGeom prst="rect">
            <a:avLst/>
          </a:prstGeom>
          <a:noFill/>
        </p:spPr>
        <p:txBody>
          <a:bodyPr wrap="none">
            <a:spAutoFit/>
          </a:bodyPr>
          <a:lstStyle/>
          <a:p>
            <a:pPr>
              <a:defRPr sz="1200">
                <a:solidFill>
                  <a:srgbClr val="B1BCCC"/>
                </a:solidFill>
              </a:defRPr>
            </a:pPr>
            <a:r>
              <a:t>FINANCIAL PLANNING &amp; ANALYSIS Plan forward with numbers everyone can trust. Connect actuals, operational drivers, budgets, forecasts, scenarios, and performance reviews in one governed planning workspace. Sign In with FastOffice Explore synthetic demo FastFPA</a:t>
            </a:r>
          </a:p>
          <a:p>
            <a:pPr>
              <a:defRPr sz="900">
                <a:solidFill>
                  <a:srgbClr val="F97316"/>
                </a:solidFill>
              </a:defRPr>
            </a:pPr>
            <a:r>
              <a:t>https://fpa.fastsme.com/</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A1222"/>
        </a:solidFill>
        <a:effectLst/>
      </p:bgPr>
    </p:bg>
    <p:spTree>
      <p:nvGrpSpPr>
        <p:cNvPr id="1" name=""/>
        <p:cNvGrpSpPr/>
        <p:nvPr/>
      </p:nvGrpSpPr>
      <p:grpSpPr/>
      <p:sp>
        <p:nvSpPr>
          <p:cNvPr id="2" name="TextBox 1"/>
          <p:cNvSpPr txBox="1"/>
          <p:nvPr/>
        </p:nvSpPr>
        <p:spPr>
          <a:xfrm>
            <a:off x="548640" y="320040"/>
            <a:ext cx="11064240" cy="594360"/>
          </a:xfrm>
          <a:prstGeom prst="rect">
            <a:avLst/>
          </a:prstGeom>
          <a:noFill/>
        </p:spPr>
        <p:txBody>
          <a:bodyPr wrap="none">
            <a:spAutoFit/>
          </a:bodyPr>
          <a:lstStyle/>
          <a:p>
            <a:pPr>
              <a:defRPr sz="2700" b="1">
                <a:solidFill>
                  <a:srgbClr val="F5F7FA"/>
                </a:solidFill>
              </a:defRPr>
            </a:pPr>
            <a:r>
              <a:t>Forward outlook</a:t>
            </a:r>
          </a:p>
        </p:txBody>
      </p:sp>
      <p:pic>
        <p:nvPicPr>
          <p:cNvPr id="3" name="Picture 2" descr="02-forward-outlook.png"/>
          <p:cNvPicPr>
            <a:picLocks noChangeAspect="1"/>
          </p:cNvPicPr>
          <p:nvPr/>
        </p:nvPicPr>
        <p:blipFill>
          <a:blip r:embed="rId2"/>
          <a:stretch>
            <a:fillRect/>
          </a:stretch>
        </p:blipFill>
        <p:spPr>
          <a:xfrm>
            <a:off x="548640" y="1097280"/>
            <a:ext cx="7924799" cy="4953000"/>
          </a:xfrm>
          <a:prstGeom prst="rect">
            <a:avLst/>
          </a:prstGeom>
        </p:spPr>
      </p:pic>
      <p:sp>
        <p:nvSpPr>
          <p:cNvPr id="4" name="TextBox 3"/>
          <p:cNvSpPr txBox="1"/>
          <p:nvPr/>
        </p:nvSpPr>
        <p:spPr>
          <a:xfrm>
            <a:off x="9646920" y="1143000"/>
            <a:ext cx="1965960" cy="5120640"/>
          </a:xfrm>
          <a:prstGeom prst="rect">
            <a:avLst/>
          </a:prstGeom>
          <a:noFill/>
        </p:spPr>
        <p:txBody>
          <a:bodyPr wrap="none">
            <a:spAutoFit/>
          </a:bodyPr>
          <a:lstStyle/>
          <a:p>
            <a:pPr>
              <a:defRPr sz="1200">
                <a:solidFill>
                  <a:srgbClr val="B1BCCC"/>
                </a:solidFill>
              </a:defRPr>
            </a:pPr>
            <a:r>
              <a:t>Dashboard Synthetic data D Forward outlook A governed view of the operating plan and its linked financial statements. Export CSV Management pack FY26 Budget Q3 Baseline Upside Downside FY26 revenue £3.80m £59k vs budget EBITDA £347k 9.1% margin Net income £236</a:t>
            </a:r>
          </a:p>
          <a:p>
            <a:pPr>
              <a:defRPr sz="900">
                <a:solidFill>
                  <a:srgbClr val="F97316"/>
                </a:solidFill>
              </a:defRPr>
            </a:pPr>
            <a:r>
              <a:t>https://fpa.fastsme.com/</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A1222"/>
        </a:solidFill>
        <a:effectLst/>
      </p:bgPr>
    </p:bg>
    <p:spTree>
      <p:nvGrpSpPr>
        <p:cNvPr id="1" name=""/>
        <p:cNvGrpSpPr/>
        <p:nvPr/>
      </p:nvGrpSpPr>
      <p:grpSpPr/>
      <p:sp>
        <p:nvSpPr>
          <p:cNvPr id="2" name="TextBox 1"/>
          <p:cNvSpPr txBox="1"/>
          <p:nvPr/>
        </p:nvSpPr>
        <p:spPr>
          <a:xfrm>
            <a:off x="548640" y="320040"/>
            <a:ext cx="11064240" cy="594360"/>
          </a:xfrm>
          <a:prstGeom prst="rect">
            <a:avLst/>
          </a:prstGeom>
          <a:noFill/>
        </p:spPr>
        <p:txBody>
          <a:bodyPr wrap="none">
            <a:spAutoFit/>
          </a:bodyPr>
          <a:lstStyle/>
          <a:p>
            <a:pPr>
              <a:defRPr sz="2700" b="1">
                <a:solidFill>
                  <a:srgbClr val="F5F7FA"/>
                </a:solidFill>
              </a:defRPr>
            </a:pPr>
            <a:r>
              <a:t>Forward outlook</a:t>
            </a:r>
          </a:p>
        </p:txBody>
      </p:sp>
      <p:pic>
        <p:nvPicPr>
          <p:cNvPr id="3" name="Picture 2" descr="02-forward-outlook.png"/>
          <p:cNvPicPr>
            <a:picLocks noChangeAspect="1"/>
          </p:cNvPicPr>
          <p:nvPr/>
        </p:nvPicPr>
        <p:blipFill>
          <a:blip r:embed="rId2"/>
          <a:stretch>
            <a:fillRect/>
          </a:stretch>
        </p:blipFill>
        <p:spPr>
          <a:xfrm>
            <a:off x="548640" y="1097280"/>
            <a:ext cx="7924799" cy="4953000"/>
          </a:xfrm>
          <a:prstGeom prst="rect">
            <a:avLst/>
          </a:prstGeom>
        </p:spPr>
      </p:pic>
      <p:sp>
        <p:nvSpPr>
          <p:cNvPr id="4" name="TextBox 3"/>
          <p:cNvSpPr txBox="1"/>
          <p:nvPr/>
        </p:nvSpPr>
        <p:spPr>
          <a:xfrm>
            <a:off x="9646920" y="1143000"/>
            <a:ext cx="1965960" cy="5120640"/>
          </a:xfrm>
          <a:prstGeom prst="rect">
            <a:avLst/>
          </a:prstGeom>
          <a:noFill/>
        </p:spPr>
        <p:txBody>
          <a:bodyPr wrap="none">
            <a:spAutoFit/>
          </a:bodyPr>
          <a:lstStyle/>
          <a:p>
            <a:pPr>
              <a:defRPr sz="1200">
                <a:solidFill>
                  <a:srgbClr val="B1BCCC"/>
                </a:solidFill>
              </a:defRPr>
            </a:pPr>
            <a:r>
              <a:t>Dashboard Synthetic data D Forward outlook A governed view of the operating plan and its linked financial statements. Export CSV Management pack FY26 Budget Q3 Baseline Upside Downside FY26 revenue £3.80m £59k vs budget EBITDA £347k 9.1% margin Net income £236</a:t>
            </a:r>
          </a:p>
          <a:p>
            <a:pPr>
              <a:defRPr sz="900">
                <a:solidFill>
                  <a:srgbClr val="F97316"/>
                </a:solidFill>
              </a:defRPr>
            </a:pPr>
            <a:r>
              <a:t>https://fpa.fastsme.com/</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A1222"/>
        </a:solidFill>
        <a:effectLst/>
      </p:bgPr>
    </p:bg>
    <p:spTree>
      <p:nvGrpSpPr>
        <p:cNvPr id="1" name=""/>
        <p:cNvGrpSpPr/>
        <p:nvPr/>
      </p:nvGrpSpPr>
      <p:grpSpPr/>
      <p:sp>
        <p:nvSpPr>
          <p:cNvPr id="2" name="TextBox 1"/>
          <p:cNvSpPr txBox="1"/>
          <p:nvPr/>
        </p:nvSpPr>
        <p:spPr>
          <a:xfrm>
            <a:off x="548640" y="320040"/>
            <a:ext cx="11064240" cy="594360"/>
          </a:xfrm>
          <a:prstGeom prst="rect">
            <a:avLst/>
          </a:prstGeom>
          <a:noFill/>
        </p:spPr>
        <p:txBody>
          <a:bodyPr wrap="none">
            <a:spAutoFit/>
          </a:bodyPr>
          <a:lstStyle/>
          <a:p>
            <a:pPr>
              <a:defRPr sz="2700" b="1">
                <a:solidFill>
                  <a:srgbClr val="F5F7FA"/>
                </a:solidFill>
              </a:defRPr>
            </a:pPr>
            <a:r>
              <a:t>Welcome to your work.</a:t>
            </a:r>
          </a:p>
        </p:txBody>
      </p:sp>
      <p:pic>
        <p:nvPicPr>
          <p:cNvPr id="3" name="Picture 2" descr="04-welcome-to-your-work.png"/>
          <p:cNvPicPr>
            <a:picLocks noChangeAspect="1"/>
          </p:cNvPicPr>
          <p:nvPr/>
        </p:nvPicPr>
        <p:blipFill>
          <a:blip r:embed="rId2"/>
          <a:stretch>
            <a:fillRect/>
          </a:stretch>
        </p:blipFill>
        <p:spPr>
          <a:xfrm>
            <a:off x="548640" y="1097280"/>
            <a:ext cx="7924799" cy="4953000"/>
          </a:xfrm>
          <a:prstGeom prst="rect">
            <a:avLst/>
          </a:prstGeom>
        </p:spPr>
      </p:pic>
      <p:sp>
        <p:nvSpPr>
          <p:cNvPr id="4" name="TextBox 3"/>
          <p:cNvSpPr txBox="1"/>
          <p:nvPr/>
        </p:nvSpPr>
        <p:spPr>
          <a:xfrm>
            <a:off x="9646920" y="1143000"/>
            <a:ext cx="1965960" cy="5120640"/>
          </a:xfrm>
          <a:prstGeom prst="rect">
            <a:avLst/>
          </a:prstGeom>
          <a:noFill/>
        </p:spPr>
        <p:txBody>
          <a:bodyPr wrap="none">
            <a:spAutoFit/>
          </a:bodyPr>
          <a:lstStyle/>
          <a:p>
            <a:pPr>
              <a:defRPr sz="1200">
                <a:solidFill>
                  <a:srgbClr val="B1BCCC"/>
                </a:solidFill>
              </a:defRPr>
            </a:pPr>
            <a:r>
              <a:t>← Back F FastOffice ONE CONNECTED WORKSPACE Welcome to your work. Sign in once to open every FastOffice product. D S P ✦ Sign in to FastOffice Use your email and password or continue with Google. Continue with Google or Email Password Forgot password? Sign in</a:t>
            </a:r>
          </a:p>
          <a:p>
            <a:pPr>
              <a:defRPr sz="900">
                <a:solidFill>
                  <a:srgbClr val="F97316"/>
                </a:solidFill>
              </a:defRPr>
            </a:pPr>
            <a:r>
              <a:t>https://office.fastsme.com/login?next=/launch/fpa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